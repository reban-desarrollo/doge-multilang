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QPH Multi-Idioma: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3600" b="1">
                <a:solidFill>
                  <a:srgbClr val="E67E22"/>
                </a:solidFill>
                <a:latin typeface="Calibri"/>
              </a:defRPr>
            </a:pPr>
            <a:r>
              <a:t>Problematicas, Datos y Plan de Accion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Reunion de Equipo · 20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400" b="0">
                <a:solidFill>
                  <a:srgbClr val="99AACC"/>
                </a:solidFill>
                <a:latin typeface="Calibri"/>
              </a:defRPr>
            </a:pPr>
            <a:r>
              <a:t>Confidencial — Solo uso interno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Calibri"/>
              </a:defRPr>
            </a:pPr>
            <a:r>
              <a:t>1.  Donde estamos (datos reales)</a:t>
            </a: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Calibri"/>
              </a:defRPr>
            </a:pPr>
            <a:r>
              <a:t>2.  Los 6 problemas criticos</a:t>
            </a: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Calibri"/>
              </a:defRPr>
            </a:pPr>
            <a:r>
              <a:t>3.  El caso del 'Cerdo Robot' (ejemplo real)</a:t>
            </a: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Calibri"/>
              </a:defRPr>
            </a:pPr>
            <a:r>
              <a:t>4.  La solucion propuesta</a:t>
            </a: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Calibri"/>
              </a:defRPr>
            </a:pPr>
            <a:r>
              <a:t>5.  Objetivos SMART por persona</a:t>
            </a: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Calibri"/>
              </a:defRPr>
            </a:pPr>
            <a:r>
              <a:t>6.  4 Investigaciones Profundas</a:t>
            </a: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Calibri"/>
              </a:defRPr>
            </a:pPr>
            <a:r>
              <a:t>7.  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El Panorama — Datos Reales del Canal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Donde estamos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27 idiomas doblados con ElevenLabs</a:t>
            </a:r>
          </a:p>
          <a:p>
            <a:pPr>
              <a:spcAft>
                <a:spcPts val="8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Solo 1 idioma (EN) tiene revision humana — 26 se publican a ciegas</a:t>
            </a:r>
          </a:p>
          <a:p>
            <a:pPr>
              <a:spcAft>
                <a:spcPts val="800"/>
              </a:spcAft>
              <a:defRPr sz="1900" b="1">
                <a:solidFill>
                  <a:srgbClr val="333333"/>
                </a:solidFill>
                <a:latin typeface="Calibri"/>
              </a:defRPr>
            </a:pPr>
            <a:r>
              <a:t>ES = ~58% del ingreso  |  EN = ~22%  |  PT = ~6%  |  Top 3 = ~86% del ingreso</a:t>
            </a:r>
          </a:p>
          <a:p>
            <a:pPr>
              <a:spcAft>
                <a:spcPts val="800"/>
              </a:spcAft>
              <a:defRPr sz="1900" b="1">
                <a:solidFill>
                  <a:srgbClr val="333333"/>
                </a:solidFill>
                <a:latin typeface="Calibri"/>
              </a:defRPr>
            </a:pPr>
            <a:r>
              <a:t>Los otros 21 idiomas juntos = ~7% del ingreso</a:t>
            </a:r>
          </a:p>
          <a:p>
            <a:pPr>
              <a:spcAft>
                <a:spcPts val="800"/>
              </a:spcAft>
              <a:defRPr sz="1900" b="1">
                <a:solidFill>
                  <a:srgbClr val="333333"/>
                </a:solidFill>
                <a:latin typeface="Calibri"/>
              </a:defRPr>
            </a:pPr>
            <a:r>
              <a:t>1 view desde Alemania vale x7.2 mas que 1 view desde Mexico</a:t>
            </a:r>
          </a:p>
          <a:p>
            <a:pPr>
              <a:spcAft>
                <a:spcPts val="800"/>
              </a:spcAft>
              <a:defRPr sz="1900" b="1">
                <a:solidFill>
                  <a:srgbClr val="333333"/>
                </a:solidFill>
                <a:latin typeface="Calibri"/>
              </a:defRPr>
            </a:pPr>
            <a:r>
              <a:t>1 view desde EEUU vale x2.4 mas que 1 view desde Mexico</a:t>
            </a:r>
          </a:p>
          <a:p>
            <a:pPr>
              <a:spcAft>
                <a:spcPts val="800"/>
              </a:spcAft>
              <a:defRPr sz="1900" b="1">
                <a:solidFill>
                  <a:srgbClr val="333333"/>
                </a:solidFill>
                <a:latin typeface="Calibri"/>
              </a:defRPr>
            </a:pPr>
            <a:r>
              <a:t>El canal AUN no alcanza break-even mensual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10698480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Top 3 idiomas (ES+EN+PT) = 86% del ingreso. Los otros 21 idiomas combinados = 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3/26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Ingreso Estimado por Idioma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Ordenado por importancia de revenue — mayor a menor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325880"/>
          <a:ext cx="1172260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97280"/>
                <a:gridCol w="1005840"/>
                <a:gridCol w="777240"/>
                <a:gridCol w="960120"/>
                <a:gridCol w="5230368"/>
              </a:tblGrid>
              <a:tr h="358726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Idioma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Ingreso est.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Valor/view*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 vs 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Prioridad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 (original)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232.2M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~58%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x1.0 (base)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4:41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 — proteger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 (master)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40.8M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~22%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x2.4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3:04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-35%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CRITICA — afecta 26 idiomas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3:49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 — 2do mercado x volumen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2.2M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~4%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x7.2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3:40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-22%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PREMIUM — crecer volumen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x2.9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3:34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 — buen RPM + volumen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4.9M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x1.8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3:38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-22%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 — Europa + Africa FR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19.0M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x0.15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3:43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BAJA — VPN? revenue no cuadra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5.4M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~0.7%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x0.5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3:33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-24%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BAJA — emergente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692K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2:22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POTENCIAL — premium, AVD muy bajo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629K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~0.2%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x1.2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2:27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-48%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— premium, poco vol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358726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3:06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— mucho vol, poco RPM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728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HI+TA+FIL+ZH+MS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2.0M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~0.3%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x0.3-0.4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~2:20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-50%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PAUSAR/EVALUAR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035040"/>
            <a:ext cx="117317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850" b="0">
                <a:solidFill>
                  <a:srgbClr val="888888"/>
                </a:solidFill>
                <a:latin typeface="Calibri"/>
              </a:defRPr>
            </a:pPr>
            <a:r>
              <a:t>*Valor/view = RPM estimado del idioma / RPM del espanol. Metodologia: pais como proxy de idioma + cruce con audio tracks.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309360"/>
            <a:ext cx="11731752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 vale x7.2 por view pero tiene solo 2.2M views. Si doblamos bien el aleman y crecemos volumen, cada view nueva vale 7x mas.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Lo que Estamos Perdiendo — Perdida de Audiencia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AVD = Duracion Promedio de Vista. ES original = 4:41 =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08176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1">
                <a:solidFill>
                  <a:srgbClr val="1B2A4A"/>
                </a:solidFill>
                <a:latin typeface="Calibri"/>
              </a:defRPr>
            </a:pPr>
            <a:r>
              <a:t>ES (original)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08176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4:41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26464"/>
            <a:ext cx="71323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1408176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92224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PT-BR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792224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3:49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810512"/>
            <a:ext cx="5777179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7539" y="1792224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81%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76272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Europeos (DE,FR)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176272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3:37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194560"/>
            <a:ext cx="5491886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2246" y="2176272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77%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560320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560320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3:34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578608"/>
            <a:ext cx="5420563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0923" y="2560320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76%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944368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RU / 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944368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3:38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962656"/>
            <a:ext cx="5491886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2246" y="2944368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77%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328416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1">
                <a:solidFill>
                  <a:srgbClr val="333333"/>
                </a:solidFill>
                <a:latin typeface="Calibri"/>
              </a:defRPr>
            </a:pPr>
            <a:r>
              <a:t>EN (master)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328416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E67E22"/>
                </a:solidFill>
                <a:latin typeface="Calibri"/>
              </a:defRPr>
            </a:pPr>
            <a:r>
              <a:t>3:04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346704"/>
            <a:ext cx="4636008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3328416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712464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Arabe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712464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E67E22"/>
                </a:solidFill>
                <a:latin typeface="Calibri"/>
              </a:defRPr>
            </a:pPr>
            <a:r>
              <a:t>3:23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730752"/>
            <a:ext cx="513527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5630" y="3712464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096512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Hindi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096512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E67E22"/>
                </a:solidFill>
                <a:latin typeface="Calibri"/>
              </a:defRPr>
            </a:pPr>
            <a:r>
              <a:t>2:56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4114800"/>
            <a:ext cx="4493361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73721" y="4096512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63%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480560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CJK (JA,KO,ZH)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480560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2:24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4498848"/>
            <a:ext cx="3637483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7843" y="4480560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51%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864608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4864608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2:39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4882896"/>
            <a:ext cx="4065422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5782" y="4864608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57%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248656"/>
            <a:ext cx="18288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Tamil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5248656"/>
            <a:ext cx="548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1:58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40" y="5266944"/>
            <a:ext cx="2995574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5934" y="5248656"/>
            <a:ext cx="640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42%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715000"/>
            <a:ext cx="228600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696712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&gt;75%: saludable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5715000"/>
            <a:ext cx="228600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5696712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60-75%: alerta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5715000"/>
            <a:ext cx="22860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0" y="5696712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&lt;60%: critico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989320"/>
            <a:ext cx="1145743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 pierde 35% y es el master de 26 idiomas. CJK pierde 49%. Si mejoramos AVD de EN de 3:04 a 4:00, el impacto se multiplica x26.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Problema 1 — Telefono Descompuesto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La cadena de traduccion multiplica cada error x26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0116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ES (Original)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737360"/>
            <a:ext cx="640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3600" b="1">
                <a:solidFill>
                  <a:srgbClr val="E67E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737360"/>
            <a:ext cx="228600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 (Master)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737360"/>
            <a:ext cx="640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3600" b="1">
                <a:solidFill>
                  <a:srgbClr val="C039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292608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26 idiomas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C0392B"/>
                </a:solidFill>
                <a:latin typeface="Calibri"/>
              </a:defRPr>
            </a:pPr>
            <a:r>
              <a:t>Cada error x26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Ejemplo real: "Que padre!" → EN: "What a father!" → propagado a 26 idiomas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EN master ya pierde 35% de AVD (3:04 vs ES 4:41) — parte del problema</a:t>
            </a:r>
          </a:p>
          <a:p>
            <a:pPr>
              <a:spcAft>
                <a:spcPts val="8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Cada error de traduccion se multiplica x26 idiomas</a:t>
            </a:r>
          </a:p>
          <a:p>
            <a:pPr>
              <a:spcAft>
                <a:spcPts val="8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Expresiones coloquiales mexicanas se traducen literalmente sin sentido</a:t>
            </a:r>
          </a:p>
          <a:p>
            <a:pPr>
              <a:spcAft>
                <a:spcPts val="8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5 de 5 opiniones AI coinciden: este es el problema #1</a:t>
            </a:r>
          </a:p>
          <a:p>
            <a:pPr>
              <a:spcAft>
                <a:spcPts val="8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Hipotesis: PT tiene AVD de 3:49 (-18%) — podria mejorar con ruta directa ES→PT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6/26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Problema 2 — Zero Metricas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No se mide = no se puede mejorar</a:t>
            </a:r>
          </a:p>
        </p:txBody>
      </p:sp>
      <p:sp>
        <p:nvSpPr>
          <p:cNvPr id="5" name="Donut 4"/>
          <p:cNvSpPr/>
          <p:nvPr/>
        </p:nvSpPr>
        <p:spPr>
          <a:xfrm>
            <a:off x="9326880" y="1737360"/>
            <a:ext cx="1828800" cy="1828800"/>
          </a:xfrm>
          <a:prstGeom prst="donut">
            <a:avLst/>
          </a:prstGeom>
          <a:solidFill>
            <a:srgbClr val="C0392B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46920" y="201168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8686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657600"/>
              </a:tblGrid>
              <a:tr h="54864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Estado actual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WER (tasa de error de traduccion)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la medimos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Tasa de error por idioma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la tenemos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Tiempo de dubbing completo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se sabe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Tasa de aprobacion a la primera (FTR)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Desconocida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Idiomas con revision humana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Solo 1 de 27 (EN)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Idiomas que se publican sin verificacion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 de 27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394960"/>
            <a:ext cx="11247120" cy="68580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486400"/>
            <a:ext cx="10927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700" b="1">
                <a:solidFill>
                  <a:srgbClr val="1B2A4A"/>
                </a:solidFill>
                <a:latin typeface="Calibri"/>
              </a:defRPr>
            </a:pPr>
            <a:r>
              <a:t>"5 de 5 opiniones AI coinciden: sin medir, no se puede mejorar. Actualmente volamos a ciegas en 26 idiomas."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26 idiomas se publican sin ninguna verificacion de calidad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Problema 3 — Blacklists: Solo 13 Terminos para 27 Idiomas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Contenido para ninos 8-15 anos sin filtro automatico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640311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80160"/>
                <a:gridCol w="4325112"/>
                <a:gridCol w="3749039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Archivo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Terminos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Palabras bloqueadas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Estado en pipeline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blacklist_global.json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 palabras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muerte, matar, sexy, sangre, droga, suicidio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integrado — referencia manual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blacklist_ar.json (Arabe)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terminos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cerdo/khanzir, alcohol, dios, iglesia, beso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integrado — referencia manual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blacklist_de.json (Aleman)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terminos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nazi, guerra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integrado — referencia manual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 idiomas restantes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terminos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 blacklist de ningun tipo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VACIO — cero cobertura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206240"/>
            <a:ext cx="301752" cy="3017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4206240"/>
            <a:ext cx="301752" cy="3017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4206240"/>
            <a:ext cx="301752" cy="3017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7452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5820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0412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1560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2708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338560" y="4206240"/>
            <a:ext cx="301752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3 idiomas con blacklist parcial (sin integrar)                    24 idiomas con CERO blacklist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983480"/>
            <a:ext cx="11640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Los archivos existen pero NO estan integrados al pipeline — todo es manual o inexistente</a:t>
            </a:r>
          </a:p>
          <a:p>
            <a:pPr>
              <a:spcAft>
                <a:spcPts val="8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El directorio by_language/ referenciado en el JSON global NO EXISTE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43600"/>
            <a:ext cx="11640312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TOTAL: 13 terminos en 3 archivos. 24 idiomas con CERO blacklist. Ninguno esta conectado al pipeline automatico.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Problema 4 — Desconexion Cultural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No existe un diccionario cultural positivo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25880"/>
          <a:ext cx="1164031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4050791"/>
                <a:gridCol w="2743200"/>
              </a:tblGrid>
              <a:tr h="34290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Cluster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Ejemplo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Riesgo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Arabe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Animal haram como insulto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"cerdo robot" = ofensa grave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CRITICO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CJK (JA/KO/ZH)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Formalidad incorrecta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Ninos hablando como ejecutivos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Japones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4,500 onomatopeyas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"guau" no es "wan wan"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Aleman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du vs Sie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Ninos de "usted" entre si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tu vs vous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Amigos formales entre 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Hindi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tum vs aap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adulto en contenido infantil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Humor mexicano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"No manches" = "Don't stain"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160520"/>
            <a:ext cx="116403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1B2A4A"/>
                </a:solidFill>
                <a:latin typeface="Calibri"/>
              </a:defRPr>
            </a:pPr>
            <a:r>
              <a:t>Ejemplos de adaptacion de expresiones mexicanas: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480560"/>
          <a:ext cx="1164031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463040"/>
                <a:gridCol w="1828800"/>
                <a:gridCol w="1828800"/>
                <a:gridCol w="2496312"/>
                <a:gridCol w="2468880"/>
              </a:tblGrid>
              <a:tr h="396240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Expresion MX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Significado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"Que padre!"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Que genial!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That's awesome!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Sugoi!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Yaa salaam!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Mega cool!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"No manches"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puede ser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way!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Maji de?!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Mish ma'qul!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Krass!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5760720"/>
            <a:ext cx="11640312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existe diccionario cultural positivo. Solo tenemos lo que NO decir (13 palabras) pero no lo que SI decir.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9/26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Problema 5 — Dos Sistemas Desconectados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El motor y las ruedas no tienen conexion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"Tenemos dos mitades que no se hablan"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4114800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3749039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Sube videos</a:t>
            </a:r>
            <a:br/>
            <a:r>
              <a:t>Gestiona ElevenLabs</a:t>
            </a:r>
            <a:br/>
            <a:r>
              <a:t>Orquesta produccion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60604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C0392B"/>
                </a:solidFill>
                <a:latin typeface="Calibri"/>
              </a:defRPr>
            </a:pPr>
            <a:r>
              <a:t>⚠</a:t>
            </a:r>
            <a:br/>
            <a:r>
              <a:t>DESCONECTADOS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011680"/>
            <a:ext cx="4114800" cy="2286000"/>
          </a:xfrm>
          <a:prstGeom prst="rect">
            <a:avLst/>
          </a:prstGeom>
          <a:solidFill>
            <a:srgbClr val="2C3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ERP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788920"/>
            <a:ext cx="3749039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Calcula errores</a:t>
            </a:r>
            <a:br/>
            <a:r>
              <a:t>Estima costos</a:t>
            </a:r>
            <a:br/>
            <a:r>
              <a:t>Reportes internos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698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Bugs conocidos: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Bug P0 (critico): prescanner crashea cuando recibe dato inesperado</a:t>
            </a:r>
          </a:p>
          <a:p>
            <a:pPr>
              <a:spcAft>
                <a:spcPts val="8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Bug P1 (alto): toda medicion de error se guarda como 'espanol' sin importar el idioma real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806440"/>
            <a:ext cx="73152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97880"/>
            <a:ext cx="10378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"Es como tener el motor y las ruedas sin conexion — los datos existen pero no se comunican entre sistemas."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Problema 6 — Inversion a Ciegas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Nunca se ha calculado ROI por idioma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Nunca se ha calculado cuanto cuesta producir cada idioma vs cuanto retorna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El canal AUN no esta en break-even — cada episodio tiene costo sin retorno garantizado</a:t>
            </a:r>
          </a:p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Concentracion: ES+EN+PT = ~86% del ingreso | Los otros 21 idiomas = ~7%</a:t>
            </a:r>
          </a:p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Cada idioma tiene costo de dubbing en ElevenLabs + tiempo de revision humana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Candidatos a pausar (ROI negativo estimado):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16052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914400"/>
                <a:gridCol w="42976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Idioma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Situacion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 pendiente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Tamil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1:58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AVD 42% del ES — peor caso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Pausar?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Filipino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46K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~2:30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Volumen y AVD bajos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Pausar?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Chino (ZH)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~2:20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~cero (VPN/restricciones)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Pausar?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Hindi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~800K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2:56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Volumen ok, AVD bajo, RPM muy bajo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Degradar a Tier 3?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6080760"/>
            <a:ext cx="1069848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Sin calcular ROI por idioma, no sabemos si estamos ganando o perdiendo en 21 de los 27 idiomas.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El Caso del 'Cerdo Robot' — Ejemplo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EP042 — El quasi-incidente que casi pasa a produccion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325880"/>
            <a:ext cx="2148840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Guion ES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"No manches, este lab esta bien canon!</a:t>
            </a:r>
            <a:br/>
            <a:r>
              <a:t>Miren, hasta tiene un cerdo robot!"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1828800"/>
            <a:ext cx="15544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325880"/>
            <a:ext cx="214884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ElevenLabs (sin corregir)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"Don't stain, this lab is very cannon!</a:t>
            </a:r>
            <a:br/>
            <a:r>
              <a:t>Look, it even has a pig robot!" — literal, sin sentido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6864" y="1828800"/>
            <a:ext cx="15544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25880"/>
            <a:ext cx="2148840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Saul/Ivan corrigen EN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"No way, this lab is so cool!</a:t>
            </a:r>
            <a:br/>
            <a:r>
              <a:t>Look, it even has a robot pig!"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2864" y="1828800"/>
            <a:ext cx="15544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325880"/>
            <a:ext cx="214884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Del EN se genera AR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"robot pig" → "khanzir ali" — khanzir = CERDO en arabe</a:t>
            </a:r>
            <a:br/>
            <a:r>
              <a:t>= OFENSA CULTURAL GRAVE para audiencia musulmana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1828800"/>
            <a:ext cx="15544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325880"/>
            <a:ext cx="214884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5. Nadie lo detecta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El arabe no se revisa. Se publica. Llegan comentarios negativos.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880360"/>
            <a:ext cx="116403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1B2A4A"/>
                </a:solidFill>
                <a:latin typeface="Calibri"/>
              </a:defRPr>
            </a:pPr>
            <a:r>
              <a:t>Errores detectados post-publicacion: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74320" y="3200400"/>
          <a:ext cx="116403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982712"/>
                <a:gridCol w="228600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Idioma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 detectado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Categoria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Arabe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"khanzir" (cerdo) = ofensa cultural grave para audiencia musulmana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— CRITICO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Japones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"No manches" sin equivalente cultural — suena extrano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Coreano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Gabriel habla con formalidad corporativa (no infantil)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Aleman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Timing desbordado 2.3 segundos — audio corta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5486400"/>
            <a:ext cx="11640312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Un solo modismo mexicano ('cerdo robot') se convierte en ofensa cultural en arabe. Sin blacklists integradas, nadie lo detecta antes de publicar.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 Buena Noticia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Ya tenemos avance significativo — 60% del codigo construido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3931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7200" b="1">
                <a:solidFill>
                  <a:srgbClr val="27AE60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5760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del codigo ya esta construido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Phase 1: Pre-produccion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3611880"/>
            <a:ext cx="2286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Phase 2: Produccion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206240"/>
            <a:ext cx="2286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5488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Phase 2.5: ERP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4800600"/>
            <a:ext cx="22860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34924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Phase 3: QA Automatizado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5394960"/>
            <a:ext cx="2286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PENDIENTE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6126480"/>
            <a:ext cx="8503920" cy="54864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6126480"/>
            <a:ext cx="73152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6217920"/>
            <a:ext cx="8183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700" b="1">
                <a:solidFill>
                  <a:srgbClr val="1B2A4A"/>
                </a:solidFill>
                <a:latin typeface="Calibri"/>
              </a:defRPr>
            </a:pPr>
            <a:r>
              <a:t>"Solo falta Phase 3: QA Automatizado + conectar todo"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 Solucion — 4 Gates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Cada episodio pasa por 4 puntos de control antes de publicarse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600200"/>
            <a:ext cx="914400" cy="9144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Gate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97480"/>
            <a:ext cx="2377440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Pre-scan del guion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ANTES de ElevenLabs</a:t>
            </a:r>
            <a:br/>
            <a:r>
              <a:t>Detecta blacklists</a:t>
            </a:r>
            <a:br/>
            <a:r>
              <a:t>+ modismos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33375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800" b="1">
                <a:solidFill>
                  <a:srgbClr val="E67E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4023360" y="160020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Gate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697480"/>
            <a:ext cx="237744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Verificacion post-dubbing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WER + timing</a:t>
            </a:r>
            <a:br/>
            <a:r>
              <a:t>por idioma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33375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800" b="1">
                <a:solidFill>
                  <a:srgbClr val="E67E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1600200"/>
            <a:ext cx="914400" cy="914400"/>
          </a:xfrm>
          <a:prstGeom prst="ellipse">
            <a:avLst/>
          </a:prstGeom>
          <a:solidFill>
            <a:srgbClr val="2C3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Gate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697480"/>
            <a:ext cx="2377440" cy="1920240"/>
          </a:xfrm>
          <a:prstGeom prst="rect">
            <a:avLst/>
          </a:prstGeom>
          <a:solidFill>
            <a:srgbClr val="2C3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Auditoria multi-IA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Claude + GPT-4</a:t>
            </a:r>
            <a:br/>
            <a:r>
              <a:t>+ Gemini votan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33375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800" b="1">
                <a:solidFill>
                  <a:srgbClr val="E67E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0" y="1600200"/>
            <a:ext cx="914400" cy="9144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Gate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697480"/>
            <a:ext cx="2377440" cy="1920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Dashboard humano</a:t>
            </a:r>
          </a:p>
          <a:p>
            <a:pPr algn="ctr"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Decision final</a:t>
            </a:r>
            <a:br/>
            <a:r>
              <a:t>del equipo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Flujo: Guion → Gate 1 (pre-scan ANTES de ElevenLabs) → ElevenLabs dubbing → Gate 2 (WER+timing) → Gate 3 (multi-IA) → Gate 4 (humano aprueba) → Publicar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Gate 1 detiene errores culturales ANTES de gastar en dubbing. Gate 4 da decision final al equipo humano.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Costo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Todo relativo — sin cifras absolutas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80"/>
                <a:gridCol w="2560320"/>
                <a:gridCol w="3474720"/>
              </a:tblGrid>
              <a:tr h="68580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Escenario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Cobertura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relativo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Resultado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Hoy (sin sistema)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Solo EN revisado</a:t>
                      </a:r>
                      <a:br/>
                      <a:r>
                        <a:t>(1 de 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~100% del costo va</a:t>
                      </a:r>
                      <a:br/>
                      <a:r>
                        <a:t>a 1 idioma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 idiomas sin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Revision humana completa</a:t>
                      </a:r>
                      <a:br/>
                      <a:r>
                        <a:t>(sin automatizar)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 idiomas con</a:t>
                      </a:r>
                      <a:br/>
                      <a:r>
                        <a:t>revision humana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~100x el costo actual</a:t>
                      </a:r>
                      <a:br/>
                      <a:r>
                        <a:t>(insostenible)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Imposible a escala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Solucion propuesta</a:t>
                      </a:r>
                      <a:br/>
                      <a:r>
                        <a:t>(automatico + Tier 1 humano)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 idiomas cubiertos</a:t>
                      </a:r>
                      <a:br/>
                      <a:r>
                        <a:t>(5 con revision humana)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~1.2x el costo actual</a:t>
                      </a:r>
                      <a:br/>
                      <a:r>
                        <a:t>(centavos de API)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 idiomas con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519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El costo automatico por episodio son centavos de dolar en API de IA</a:t>
            </a:r>
          </a:p>
          <a:p>
            <a:pPr>
              <a:spcAft>
                <a:spcPts val="8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Con el sistema: pasamos de revisar 1 idioma a revisar los 27</a:t>
            </a:r>
          </a:p>
          <a:p>
            <a:pPr>
              <a:spcAft>
                <a:spcPts val="8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Revision humana se concentra en Tier 1 (5 idiomas = ~37% del ingreso no-ES)</a:t>
            </a:r>
          </a:p>
          <a:p>
            <a:pPr>
              <a:spcAft>
                <a:spcPts val="8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Tier 2 y Tier 3 se cubren con muestreo automatico — casi cero costo marginal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126480"/>
            <a:ext cx="1124712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Por ~1.2x el costo actual cubrimos 27 idiomas en vez de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Prioridad por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Invertir donde mas retorna, automatizar el resto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01168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Tier 1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5 idiomas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691640"/>
            <a:ext cx="8869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EN, PT, DE, FR,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94560"/>
            <a:ext cx="8869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Revision humana completa — ~37% del ingreso no-ES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201168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Tier 2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5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200400"/>
            <a:ext cx="8869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RU, TR, AR, ID, 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703320"/>
            <a:ext cx="8869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Muestreo automatico 30% de episodios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2011680" cy="1188720"/>
          </a:xfrm>
          <a:prstGeom prst="rect">
            <a:avLst/>
          </a:prstGeom>
          <a:solidFill>
            <a:srgbClr val="2C3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Tier 3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17 idiomas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709160"/>
            <a:ext cx="8869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Resto (KO, HI, ZH, TA, FIL, MS...)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5212080"/>
            <a:ext cx="8869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Solo automatico — alertas si algo supera umbral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6035040"/>
            <a:ext cx="7315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126480"/>
            <a:ext cx="10927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"Invertir donde mas retorna, automatizar el resto. Tier 1 = ~37% del ingreso no-ES con revision humana completa."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16/26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Objetivos SMART del Equipo — Vista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Especificos, Medibles, Alcanzables, Relevantes, con Tiempo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Cada persona tiene responsabilidades claras y metas medibles a 90 dias: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21208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Andrea — Contenido y Adaptacion Cultural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Blacklists, expresiones, revision de guion pre-dubbing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5212080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Alan — Optimizacion Post-Produccion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Eficiencia de Saul/Ivan, identificacion de gaps, coordinacion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212080" cy="960120"/>
          </a:xfrm>
          <a:prstGeom prst="rect">
            <a:avLst/>
          </a:prstGeom>
          <a:solidFill>
            <a:srgbClr val="2C3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Ramon — Soporte Tecnico del Pipeline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Herramientas, automatizacion, infraestructura tecnica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200400"/>
            <a:ext cx="5212080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Daniel — Deep Research y Habilitacion IA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4 investigaciones profundas, herramientas AI, apoyo al equipo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10698480" cy="5943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480560"/>
            <a:ext cx="73152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10378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700" b="1">
                <a:solidFill>
                  <a:srgbClr val="1B2A4A"/>
                </a:solidFill>
                <a:latin typeface="Calibri"/>
              </a:defRPr>
            </a:pPr>
            <a:r>
              <a:t>"Los primeros 30 dias son para MEDIR. No podemos mejorar lo que no medimos."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516636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2560320"/>
                <a:gridCol w="265176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 30 dias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 90 dias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Idiomas con metricas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de 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(Tier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 de 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Blacklists integradas al pipeline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de 27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(Tier 1)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 de 27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Episodios aprobados 1ra vez (FTR)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Desconocido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Incidentes Cat. A en Tier 1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medido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meta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siempre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Andrea — Contenido y Adaptacion Cultural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Guionismo, blacklists, temas culturales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25880"/>
          <a:ext cx="116403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2221992"/>
                <a:gridCol w="2103120"/>
                <a:gridCol w="2286000"/>
              </a:tblGrid>
              <a:tr h="923544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Objetivo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Como se mide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Plazo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Crear blacklists para 27 idiomas.</a:t>
                      </a:r>
                      <a:br/>
                      <a:r>
                        <a:t>IA genera borrador, Andrea valida con contexto cultural del contenido infantil.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 de blacklists</a:t>
                      </a:r>
                      <a:br/>
                      <a:r>
                        <a:t>validadas y listas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(Tier 1) en 30d</a:t>
                      </a:r>
                      <a:br/>
                      <a:r>
                        <a:t>27 en 60d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3-8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guiones ANTES de traduccion (Gate 1).</a:t>
                      </a:r>
                      <a:br/>
                      <a:r>
                        <a:t>Identificar modismos, expresiones coloquiales y humor que NO traduce bien.</a:t>
                      </a:r>
                      <a:br/>
                      <a:r>
                        <a:t>Ej: 'que padre' -&gt; 'what a father'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 expresiones</a:t>
                      </a:r>
                      <a:br/>
                      <a:r>
                        <a:t>flagged por episodio</a:t>
                      </a:r>
                      <a:br/>
                      <a:r>
                        <a:t>% errores evitados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Checklist de</a:t>
                      </a:r>
                      <a:br/>
                      <a:r>
                        <a:t>20+ expresiones</a:t>
                      </a:r>
                      <a:br/>
                      <a:r>
                        <a:t>por cluster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2-6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reglas culturales por cluster de idiomas.</a:t>
                      </a:r>
                      <a:br/>
                      <a:r>
                        <a:t>Que es aceptable en LATAM pero no en Medio Oriente,</a:t>
                      </a:r>
                      <a:br/>
                      <a:r>
                        <a:t>que humor funciona en Europa vs Asia.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 de</a:t>
                      </a:r>
                      <a:br/>
                      <a:r>
                        <a:t>reglas por cluster</a:t>
                      </a:r>
                      <a:br/>
                      <a:r>
                        <a:t>(5 clusters min)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cluster/semana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4-10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A4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 contenido publicado.</a:t>
                      </a:r>
                      <a:br/>
                      <a:r>
                        <a:t>Reportar temas culturales o de lenguaje detectados post-publicacion.</a:t>
                      </a:r>
                      <a:br/>
                      <a:r>
                        <a:t>Meta: cero incidentes Cat. A (groserias, ofensas culturales) en Tier 1.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incidentes Cat. A</a:t>
                      </a:r>
                      <a:br/>
                      <a:r>
                        <a:t>en Tier 1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Cat. A en</a:t>
                      </a:r>
                      <a:br/>
                      <a:r>
                        <a:t>Tier 1 siempre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Continuo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35040"/>
            <a:ext cx="1164031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Andrea es el primer filtro: si el guion tiene problemas culturales, se multiplican x27 idiomas.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18/26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Alan — Optimizacion Post-Produccion Multi-Idioma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Eficiencia del equipo de traduccion, gaps, coordinacion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25880"/>
          <a:ext cx="116403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2221992"/>
                <a:gridCol w="2103120"/>
                <a:gridCol w="2286000"/>
              </a:tblGrid>
              <a:tr h="923544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Objetivo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Como se mide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Plazo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Reducir tiempo de correccion manual de Saul/Ivan.</a:t>
                      </a:r>
                      <a:br/>
                      <a:r>
                        <a:t>Identificar patrones repetitivos y eliminarlos con procesos o herramientas.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Horas de correccion</a:t>
                      </a:r>
                      <a:br/>
                      <a:r>
                        <a:t>por episodio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-20% en 60d</a:t>
                      </a:r>
                      <a:br/>
                      <a:r>
                        <a:t>-40% en 90d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3-12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L2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gaps, silencios y problemas de timing en traducciones Tier 1.</a:t>
                      </a:r>
                      <a:br/>
                      <a:r>
                        <a:t>Escuchar muestras de cada idioma Tier 1 y reportar donde falla el audio.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 gaps detectados</a:t>
                      </a:r>
                      <a:br/>
                      <a:r>
                        <a:t>por episodio</a:t>
                      </a:r>
                      <a:br/>
                      <a:r>
                        <a:t>% resueltos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 Tier 1</a:t>
                      </a:r>
                      <a:br/>
                      <a:r>
                        <a:t>revisado cada</a:t>
                      </a:r>
                      <a:br/>
                      <a:r>
                        <a:t>episodio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4-10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Coordinarse con Ramon para automatizar deteccion de gaps.</a:t>
                      </a:r>
                      <a:br/>
                      <a:r>
                        <a:t>Definir que problemas pueden detectarse con herramientas vs oido humano.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 tipos de gap</a:t>
                      </a:r>
                      <a:br/>
                      <a:r>
                        <a:t>automatizados vs</a:t>
                      </a:r>
                      <a:br/>
                      <a:r>
                        <a:t>manuales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50% deteccion</a:t>
                      </a:r>
                      <a:br/>
                      <a:r>
                        <a:t>automatica en</a:t>
                      </a:r>
                      <a:br/>
                      <a:r>
                        <a:t>Tier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6-12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L4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Medir y reportar tasa de aprobacion a la primera (FTR).</a:t>
                      </a:r>
                      <a:br/>
                      <a:r>
                        <a:t>Cuantos episodios pasan QA sin necesidad de re-trabajo.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FTR % semanal</a:t>
                      </a:r>
                      <a:br/>
                      <a:r>
                        <a:t>(First Time Right)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&gt;40% en 60d</a:t>
                      </a:r>
                      <a:br/>
                      <a:r>
                        <a:t>&gt;60% en 90d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3-12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35040"/>
            <a:ext cx="1164031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Alan optimiza personas + se apoya en Ramon para lo tecnico. Objetivo: menos retrabajo, mas eficiencia en Saul/Ivan.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19/26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Ramon — Soporte Tecnico 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Herramientas, automatizacion, infraestructura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25880"/>
          <a:ext cx="116403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2221992"/>
                <a:gridCol w="2103120"/>
                <a:gridCol w="2286000"/>
              </a:tblGrid>
              <a:tr h="923544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Objetivo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Como se mide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Plazo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Configurar y validar pipeline end-to-end con 1 episodio piloto exitoso.</a:t>
                      </a:r>
                      <a:br/>
                      <a:r>
                        <a:t>Flujo Guion-&gt;ElevenLabs-&gt;Audio funcione sin errores manuales.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funcional</a:t>
                      </a:r>
                      <a:br/>
                      <a:r>
                        <a:t>con 1 episodio</a:t>
                      </a:r>
                      <a:br/>
                      <a:r>
                        <a:t>piloto exitoso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episodio</a:t>
                      </a:r>
                      <a:br/>
                      <a:r>
                        <a:t>completo sin</a:t>
                      </a:r>
                      <a:br/>
                      <a:r>
                        <a:t>errores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1-3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WER baseline para 27 idiomas + forced alignment.</a:t>
                      </a:r>
                      <a:br/>
                      <a:r>
                        <a:t>Medir tasa de error de traduccion por idioma como punto de partida.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WER medido</a:t>
                      </a:r>
                      <a:br/>
                      <a:r>
                        <a:t>por idioma</a:t>
                      </a:r>
                      <a:br/>
                      <a:r>
                        <a:t>(27 idiomas)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WER baseline</a:t>
                      </a:r>
                      <a:br/>
                      <a:r>
                        <a:t>para 27 idiomas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3-6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Integrar blacklists de Andrea al Gate 1 automatico.</a:t>
                      </a:r>
                      <a:br/>
                      <a:r>
                        <a:t>Que las listas se apliquen antes de enviar a ElevenLabs.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 idiomas con</a:t>
                      </a:r>
                      <a:br/>
                      <a:r>
                        <a:t>blacklist integrada</a:t>
                      </a:r>
                      <a:br/>
                      <a:r>
                        <a:t>en Gate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(Tier 1)</a:t>
                      </a:r>
                      <a:br/>
                      <a:r>
                        <a:t>en sem 6</a:t>
                      </a:r>
                      <a:br/>
                      <a:r>
                        <a:t>27 en sem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4-10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Soporte tecnico al equipo (&lt;24h para problemas criticos).</a:t>
                      </a:r>
                      <a:br/>
                      <a:r>
                        <a:t>Resolver problemas de ElevenLabs, APIs, formatos de audio.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Tiempo de</a:t>
                      </a:r>
                      <a:br/>
                      <a:r>
                        <a:t>resolucion</a:t>
                      </a:r>
                      <a:br/>
                      <a:r>
                        <a:t>promedio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&lt;24h para</a:t>
                      </a:r>
                      <a:br/>
                      <a:r>
                        <a:t>problemas</a:t>
                      </a:r>
                      <a:br/>
                      <a:r>
                        <a:t>criticos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Continuo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35040"/>
            <a:ext cx="1164031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Ramon es el puente entre lo que el equipo necesita y lo que la tecnologia puede resolver.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20/26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Daniel — Deep Research y Habilitacion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Investigaciones profundas, herramientas AI, apoyo al equipo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25880"/>
          <a:ext cx="116403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2221992"/>
                <a:gridCol w="2103120"/>
                <a:gridCol w="2286000"/>
              </a:tblGrid>
              <a:tr h="923544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Objetivo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Como se mide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Plazo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4 investigaciones profundas (Deep Research) con multiples IAs.</a:t>
                      </a:r>
                      <a:br/>
                      <a:r>
                        <a:t>Cada DR genera recomendaciones accionables para el equipo.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DRs ejecutados</a:t>
                      </a:r>
                      <a:br/>
                      <a:r>
                        <a:t>con outputs</a:t>
                      </a:r>
                      <a:br/>
                      <a:r>
                        <a:t>validados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DR01+DR02 sem 3</a:t>
                      </a:r>
                      <a:br/>
                      <a:r>
                        <a:t>DR03+DR04 sem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1-6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D2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Traducir hallazgos de los DRs en acciones para Andrea/Alan/Ramon.</a:t>
                      </a:r>
                      <a:br/>
                      <a:r>
                        <a:t>Ej: resultados DR02 -&gt; reglas culturales que Andrea aplica.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 recomendaciones</a:t>
                      </a:r>
                      <a:br/>
                      <a:r>
                        <a:t>implementadas</a:t>
                      </a:r>
                      <a:br/>
                      <a:r>
                        <a:t>por el equipo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&gt;80% de</a:t>
                      </a:r>
                      <a:br/>
                      <a:r>
                        <a:t>recomendaciones</a:t>
                      </a:r>
                      <a:br/>
                      <a:r>
                        <a:t>adoptadas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4-10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Configurar 3 jueces IA operativos para el equipo.</a:t>
                      </a:r>
                      <a:br/>
                      <a:r>
                        <a:t>Multi-model QA (Claude + GPT + Gemini), dashboards, reportes automaticos.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Herramientas</a:t>
                      </a:r>
                      <a:br/>
                      <a:r>
                        <a:t>operativas y</a:t>
                      </a:r>
                      <a:br/>
                      <a:r>
                        <a:t>usables por equipo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jueces IA</a:t>
                      </a:r>
                      <a:br/>
                      <a:r>
                        <a:t>operativos</a:t>
                      </a:r>
                      <a:br/>
                      <a:r>
                        <a:t>en sem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4-10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D4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Calcular ROI por idioma con datos reales de YouTube Analytics.</a:t>
                      </a:r>
                      <a:br/>
                      <a:r>
                        <a:t>Cruzar costos de dubbing con revenue para decidir que idiomas mantener/pausar.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ROI calculado</a:t>
                      </a:r>
                      <a:br/>
                      <a:r>
                        <a:t>por idioma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(Tier 1) sem 6</a:t>
                      </a:r>
                      <a:br/>
                      <a:r>
                        <a:t>27 idiomas sem 10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 4-10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35040"/>
            <a:ext cx="1164031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Daniel investiga con IA, traduce hallazgos a acciones y habilita al equipo con herramientas.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21/26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Las 4 Investigaciones Profundas — Deep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Que es DR: se le hace la misma pregunta a 5 IAs diferentes y se sintetizan las respuestas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Cada DR usa ChatGPT, Gemini, Claude, Perplexity y mas — se sintetizan para obtener vision completa sin sesgo de una sola 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53949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91440" cy="1965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73152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DR01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Cadena de Traduccion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4983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Conviene traducir directo ES-&gt;idioma o siempre via EN?</a:t>
            </a:r>
            <a:br/>
            <a:r>
              <a:t>PT-BR pierde solo 18% de AVD vs 35% de EN.</a:t>
            </a:r>
            <a:br/>
            <a:r>
              <a:t>Puede ser mejor ir directo para idiomas cercanos al espanol.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1">
                <a:solidFill>
                  <a:srgbClr val="1B2A4A"/>
                </a:solidFill>
                <a:latin typeface="Calibri"/>
              </a:defRPr>
            </a:pPr>
            <a:r>
              <a:t>Afecta a: Alan, Ramon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3949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91440" cy="1965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057400"/>
            <a:ext cx="73152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DR02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01168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Adaptacion Cultural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4983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Framework de reglas culturales por cluster de idiomas.</a:t>
            </a:r>
            <a:br/>
            <a:r>
              <a:t>Que blacklists necesitamos, que humor no traduce,</a:t>
            </a:r>
            <a:br/>
            <a:r>
              <a:t>que es ofensivo en cada region (ej: cerdo en arabe).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Afecta a: Andrea, Alan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14800"/>
            <a:ext cx="53949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91440" cy="1965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73152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DR03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Calidad TTS por Idioma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63440"/>
            <a:ext cx="4983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Que tan bien suena ElevenLabs en cada idioma?</a:t>
            </a:r>
            <a:br/>
            <a:r>
              <a:t>CJK pierde 49% de audiencia.</a:t>
            </a:r>
            <a:br/>
            <a:r>
              <a:t>Es el TTS? la traduccion? la cultura? Necesitamos datos.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072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1">
                <a:solidFill>
                  <a:srgbClr val="E67E22"/>
                </a:solidFill>
                <a:latin typeface="Calibri"/>
              </a:defRPr>
            </a:pPr>
            <a:r>
              <a:t>Afecta a: Ramon, Alan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14800"/>
            <a:ext cx="53949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91440" cy="1965960"/>
          </a:xfrm>
          <a:prstGeom prst="rect">
            <a:avLst/>
          </a:prstGeom>
          <a:solidFill>
            <a:srgbClr val="2C3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731520" cy="365760"/>
          </a:xfrm>
          <a:prstGeom prst="rect">
            <a:avLst/>
          </a:prstGeom>
          <a:solidFill>
            <a:srgbClr val="2C3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DR04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0624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QA Multi-IA Empresarial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63440"/>
            <a:ext cx="4983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Como Netflix/Disney hacen QA multilenguaje con IA.</a:t>
            </a:r>
            <a:br/>
            <a:r>
              <a:t>Patrones de multi-model consensus, escalas MQM,</a:t>
            </a:r>
            <a:br/>
            <a:r>
              <a:t>pipelines de validacion cultural automatizada.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76072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000" b="1">
                <a:solidFill>
                  <a:srgbClr val="2C3E6D"/>
                </a:solidFill>
                <a:latin typeface="Calibri"/>
              </a:defRPr>
            </a:pPr>
            <a:r>
              <a:t>Afecta a: Daniel, Ramon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Acciones esta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Cada quien tiene una tarea concreta de bajo esfuerzo / alto impacto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589520"/>
                <a:gridCol w="1828800"/>
              </a:tblGrid>
              <a:tr h="640080"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Persona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Tiempo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Listar 10 expresiones/modismos criticos del guion que NO traducen bien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Alan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Agendar sesion de alineacion + revisar metricas de eficiencia actuales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 min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Ramon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Validar catalogo de voces (manifest.json) y reportar estado del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hora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Daniel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Fase 0: verificar pipeline end-to-end + fix bugs criticos P0/P1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Esta semana</a:t>
                      </a:r>
                    </a:p>
                  </a:txBody>
                  <a:tcPr anchor="ctr">
                    <a:solidFill>
                      <a:srgbClr val="EBEBE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Saul / Ivan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Confirmar disponibilidad para piloto de 1 episodio completo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Tiempo total del equipo: ~3.5 horas | Impacto: desbloquea todo 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852160"/>
            <a:ext cx="11247120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Estas acciones son el unico prerequisito para arrancar el piloto en Semana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Decisiones Pendientes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El equipo necesita resolver estas 5 preguntas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45720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700" b="1">
                <a:solidFill>
                  <a:srgbClr val="1B2A4A"/>
                </a:solidFill>
                <a:latin typeface="Calibri"/>
              </a:defRPr>
            </a:pPr>
            <a:r>
              <a:t>Cuantos idiomas en el piloto?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Opciones: 5 (Tier 1), 10 (Tier 1+2), o los 27 completos desde el inicio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45720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700" b="1">
                <a:solidFill>
                  <a:srgbClr val="1B2A4A"/>
                </a:solidFill>
                <a:latin typeface="Calibri"/>
              </a:defRPr>
            </a:pPr>
            <a:r>
              <a:t>Quien es dueno permanente de las blacklists?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Andrea las crea — pero quien las actualiza y aprueba a largo plazo?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45720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700" b="1">
                <a:solidFill>
                  <a:srgbClr val="1B2A4A"/>
                </a:solidFill>
                <a:latin typeface="Calibri"/>
              </a:defRPr>
            </a:pPr>
            <a:r>
              <a:t>Pausar idiomas de bajo ROI?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Tamil (30K views, AVD 1:58), Filipino (46K views), Chino (65K, revenue cero)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457200" cy="594360"/>
          </a:xfrm>
          <a:prstGeom prst="rect">
            <a:avLst/>
          </a:prstGeom>
          <a:solidFill>
            <a:srgbClr val="2C3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700" b="1">
                <a:solidFill>
                  <a:srgbClr val="1B2A4A"/>
                </a:solidFill>
                <a:latin typeface="Calibri"/>
              </a:defRPr>
            </a:pPr>
            <a:r>
              <a:t>Migrar a Enterprise de ElevenLabs?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2628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Mas capacidad, menor costo por caracter — depende del volumen mensual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20640"/>
            <a:ext cx="4572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074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700" b="1">
                <a:solidFill>
                  <a:srgbClr val="1B2A4A"/>
                </a:solidFill>
                <a:latin typeface="Calibri"/>
              </a:defRPr>
            </a:pPr>
            <a:r>
              <a:t>Que tan estricto debe ser el sistema?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4068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Bloquear automaticamente (arriesga retrasos) vs alertar y dejar pasar (arriesga errores)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24/26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Siguiente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E67E22"/>
                </a:solidFill>
                <a:latin typeface="Calibri"/>
              </a:defRPr>
            </a:pPr>
            <a:r>
              <a:t>Plan de las proximas 4 semanas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286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417320"/>
            <a:ext cx="457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400" b="1">
                <a:solidFill>
                  <a:srgbClr val="1B2A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08760"/>
            <a:ext cx="8321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Alinear vision del equipo + asignar objetivos SMART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03120"/>
            <a:ext cx="73152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228600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ESTA SEMANA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77440"/>
            <a:ext cx="457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400" b="1">
                <a:solidFill>
                  <a:srgbClr val="E67E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8321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Andrea: blacklist Tier 1  |  Alan: baseline tiempos  |  Ramon: validar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063240"/>
            <a:ext cx="73152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2286000" cy="685800"/>
          </a:xfrm>
          <a:prstGeom prst="rect">
            <a:avLst/>
          </a:prstGeom>
          <a:solidFill>
            <a:srgbClr val="2C3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337560"/>
            <a:ext cx="457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400" b="1">
                <a:solidFill>
                  <a:srgbClr val="2C3E6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29000"/>
            <a:ext cx="8321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Piloto con 1 episodio real (27 idiomas) — medir todo por primera vez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4023360"/>
            <a:ext cx="73152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228600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SEMANA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297680"/>
            <a:ext cx="457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389120"/>
            <a:ext cx="8321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Daniel: DR01+DR02 listos, primeras recomendaciones para el equipo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4983480"/>
            <a:ext cx="73152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2286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MES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257800"/>
            <a:ext cx="457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400" b="1">
                <a:solidFill>
                  <a:srgbClr val="1B2A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349240"/>
            <a:ext cx="8321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Metricas funcionando para Tier 1, primeros FTR medidos y publicados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25/26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097280"/>
            <a:ext cx="57607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834640"/>
            <a:ext cx="7589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2200" b="0">
                <a:solidFill>
                  <a:srgbClr val="E67E22"/>
                </a:solidFill>
                <a:latin typeface="Calibri"/>
              </a:defRPr>
            </a:pPr>
            <a:r>
              <a:t>Contacto: Daniel Garza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566160"/>
            <a:ext cx="484632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  <a:defRPr sz="1600" b="0">
                <a:solidFill>
                  <a:srgbClr val="99AACC"/>
                </a:solidFill>
                <a:latin typeface="Calibri"/>
              </a:defRPr>
            </a:pPr>
            <a:r>
              <a:t>Este documento resume 79 archivos de analisis, 4 perspectivas AI,</a:t>
            </a:r>
            <a:br/>
            <a:r>
              <a:t>datos de YouTube Analytics 2025, 4 Deep Research en curso</a:t>
            </a:r>
            <a:br/>
            <a:r>
              <a:t>y 129 docs de API ElevenLabs.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26/26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